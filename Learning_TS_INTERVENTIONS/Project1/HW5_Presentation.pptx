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Time Series Prediction of Housing Prices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Project 1 — Results &amp; Takeaways</a:t>
            </a:r>
          </a:p>
          <a:p>
            <a:pPr algn="ctr">
              <a:defRPr sz="2000"/>
            </a:pPr>
          </a:p>
          <a:p>
            <a:pPr algn="ctr">
              <a:defRPr sz="2000"/>
            </a:pPr>
            <a:r>
              <a:t>Dataset: Zillow House Prices (Boston, MA)</a:t>
            </a:r>
          </a:p>
          <a:p>
            <a:pPr algn="ctr">
              <a:defRPr sz="2000"/>
            </a:pPr>
            <a:r>
              <a:t>Training: 2010–2017 | Testing: 2018–2019</a:t>
            </a:r>
          </a:p>
          <a:p>
            <a:pPr algn="ctr">
              <a:defRPr sz="2000"/>
            </a:pPr>
            <a:r>
              <a:t>Exogenous Variable: 30-Year Mortgage 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Assumptions We Made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Assumption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Why We Made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How We Tested 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Stationarity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AR/ARMA requires stationary series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ADF: raw p=0.98 → detrended p=0.03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Linearity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Model class is linear in lags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Implicit in AR/ARX/ARMAX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Credit↔Housing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Mortgage rates affect prices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Correlation: Δprice vs rate = −0.40***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Finite AR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Parsimony; AIC/BIC penalize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Compared p=1,2,3,4,5 via AIC/BIC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Key insight: We TESTED stationarity rather than assumed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1b. Testing the Credit-Housing Assumption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Relationship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Correlation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p-value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Δ price vs rate 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−0.40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Higher rates → lower price growth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Δ price vs Δ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Change in rate less predictive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2004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600"/>
            </a:pPr>
            <a:r>
              <a:t>• Regression: Δprice = 6741 − 1382 × rate  (R² = 0.16, p &lt; 0.001)</a:t>
            </a:r>
          </a:p>
          <a:p>
            <a:pPr>
              <a:defRPr sz="1600"/>
            </a:pPr>
            <a:r>
              <a:t>• Each 1 p.p. rate increase → ~$1,382 less monthly price growth</a:t>
            </a:r>
          </a:p>
          <a:p>
            <a:pPr>
              <a:defRPr sz="1600"/>
            </a:pPr>
            <a:r>
              <a:t>• This motivated including interest rate as exogenous variable in ARX/ARMAX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2. Trend Removal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What We Did: OLS Linear Detrend</a:t>
            </a:r>
          </a:p>
          <a:p>
            <a:pPr lvl="1">
              <a:defRPr sz="1600"/>
            </a:pPr>
            <a:r>
              <a:t>    • Regress price on time index, use residuals as detrended series</a:t>
            </a:r>
          </a:p>
          <a:p>
            <a:pPr>
              <a:spcAft>
                <a:spcPts val="600"/>
              </a:spcAft>
              <a:defRPr sz="1800"/>
            </a:pPr>
            <a:r>
              <a:t>Result: Raw ADF p=0.98 (unit root) → Detrended ADF p=0.03 (stationary)</a:t>
            </a:r>
          </a:p>
          <a:p>
            <a:pPr lvl="1">
              <a:defRPr sz="1600"/>
            </a:pPr>
            <a:r>
              <a:t>    • Successfully achieved stationarity for AR/ARMA modeling</a:t>
            </a:r>
          </a:p>
          <a:p>
            <a:pPr>
              <a:spcAft>
                <a:spcPts val="600"/>
              </a:spcAft>
              <a:defRPr sz="1800"/>
            </a:pPr>
            <a:r>
              <a:t>Other Methods Available:</a:t>
            </a:r>
          </a:p>
          <a:p>
            <a:pPr lvl="1">
              <a:defRPr sz="1600"/>
            </a:pPr>
            <a:r>
              <a:t>    • Differencing (yt − yt−1): good for stochastic trend / I(1)</a:t>
            </a:r>
          </a:p>
          <a:p>
            <a:pPr lvl="1">
              <a:defRPr sz="1600"/>
            </a:pPr>
            <a:r>
              <a:t>    • Polynomial detrend: for curved trends (we tried quadratic, cubic)</a:t>
            </a:r>
          </a:p>
          <a:p>
            <a:pPr lvl="1">
              <a:defRPr sz="1600"/>
            </a:pPr>
            <a:r>
              <a:t>    • HP filter / splines: smooth, flexible trend extraction</a:t>
            </a:r>
          </a:p>
          <a:p>
            <a:pPr>
              <a:spcAft>
                <a:spcPts val="600"/>
              </a:spcAft>
              <a:defRPr sz="1800"/>
            </a:pPr>
            <a:r>
              <a:t>Future Choice:</a:t>
            </a:r>
          </a:p>
          <a:p>
            <a:pPr lvl="1">
              <a:defRPr sz="1600"/>
            </a:pPr>
            <a:r>
              <a:t>    • Linear OLS for interpretability</a:t>
            </a:r>
          </a:p>
          <a:p>
            <a:pPr lvl="1">
              <a:defRPr sz="1600"/>
            </a:pPr>
            <a:r>
              <a:t>    • Differencing if ADF strongly suggests I(1)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3. Generalizing to a New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Step 1: EXPLORE — Plot series, check missing values, define prediction task</a:t>
            </a:r>
          </a:p>
          <a:p>
            <a:pPr>
              <a:spcAft>
                <a:spcPts val="600"/>
              </a:spcAft>
              <a:defRPr sz="1800"/>
            </a:pPr>
            <a:r>
              <a:t>Step 2: STATIONARITY — Run ADF test; if non-stationary → detrend/difference</a:t>
            </a:r>
          </a:p>
          <a:p>
            <a:pPr>
              <a:spcAft>
                <a:spcPts val="600"/>
              </a:spcAft>
              <a:defRPr sz="1800"/>
            </a:pPr>
            <a:r>
              <a:t>Step 3: CORRELATIONS — Cross-correlation, ACF/PACF, test lag significance</a:t>
            </a:r>
          </a:p>
          <a:p>
            <a:pPr>
              <a:spcAft>
                <a:spcPts val="600"/>
              </a:spcAft>
              <a:defRPr sz="1800"/>
            </a:pPr>
            <a:r>
              <a:t>Step 4: MODEL SELECTION — Start AR → ARMA → ARX/ARMAX</a:t>
            </a:r>
          </a:p>
          <a:p>
            <a:pPr>
              <a:spcAft>
                <a:spcPts val="600"/>
              </a:spcAft>
              <a:defRPr sz="1800"/>
            </a:pPr>
            <a:r>
              <a:t>Step 5: ORDER SELECTION — AIC/BIC + out-of-sample MSE</a:t>
            </a:r>
          </a:p>
          <a:p>
            <a:pPr>
              <a:spcAft>
                <a:spcPts val="600"/>
              </a:spcAft>
              <a:defRPr sz="1800"/>
            </a:pPr>
            <a:r>
              <a:t>Step 6: EVALUATE — Hold-out test set; report MSE/RMSE/MAE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/>
            </a:pPr>
            <a:r>
              <a:t>3b. Model Choice &amp; Domain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8412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Which Model?</a:t>
            </a:r>
          </a:p>
          <a:p>
            <a:pPr lvl="1">
              <a:defRPr sz="1600"/>
            </a:pPr>
            <a:r>
              <a:t>    • AR/ARMA: when only single time series available</a:t>
            </a:r>
          </a:p>
          <a:p>
            <a:pPr lvl="1">
              <a:defRPr sz="1600"/>
            </a:pPr>
            <a:r>
              <a:t>    • ARX/ARMAX: when plausible exogenous driver exists (e.g., mortgage rate)</a:t>
            </a:r>
          </a:p>
          <a:p>
            <a:pPr>
              <a:spcAft>
                <a:spcPts val="600"/>
              </a:spcAft>
              <a:defRPr sz="1800"/>
            </a:pPr>
            <a:r>
              <a:t>Does Dataset Type Matter? YES</a:t>
            </a:r>
          </a:p>
          <a:p>
            <a:pPr lvl="1">
              <a:defRPr sz="1600"/>
            </a:pPr>
            <a:r>
              <a:t>    • Frequency matters (daily vs monthly)</a:t>
            </a:r>
          </a:p>
          <a:p>
            <a:pPr lvl="1">
              <a:defRPr sz="1600"/>
            </a:pPr>
            <a:r>
              <a:t>    • Trend/seasonality structure</a:t>
            </a:r>
          </a:p>
          <a:p>
            <a:pPr lvl="1">
              <a:defRPr sz="1600"/>
            </a:pPr>
            <a:r>
              <a:t>    • Availability of aligned exogenous variables</a:t>
            </a:r>
          </a:p>
          <a:p>
            <a:pPr>
              <a:spcAft>
                <a:spcPts val="600"/>
              </a:spcAft>
              <a:defRPr sz="1800"/>
            </a:pPr>
            <a:r>
              <a:t>Does Domain Knowledge Matter? YES</a:t>
            </a:r>
          </a:p>
          <a:p>
            <a:pPr lvl="1">
              <a:defRPr sz="1600"/>
            </a:pPr>
            <a:r>
              <a:t>    • Choice of exogenous variable (mortgage rate for housing)</a:t>
            </a:r>
          </a:p>
          <a:p>
            <a:pPr lvl="1">
              <a:defRPr sz="1600"/>
            </a:pPr>
            <a:r>
              <a:t>    • Whether to model levels vs. growth rates</a:t>
            </a:r>
          </a:p>
          <a:p>
            <a:pPr lvl="1">
              <a:defRPr sz="1600"/>
            </a:pPr>
            <a:r>
              <a:t>    • Plausible forecast horizon (macro shocks limit predictability)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Evaluation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How We Used 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Penalizes large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Primary metric for comparison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Same scale as 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Easier interpretation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Robust to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Alternative accuracy measure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AIC/BIC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Balance fit vs 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 order selection (optimal p=2 by BIC)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38404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In-sample: AIC/BIC for order selection | Out-of-sample: MSE with rolling 1-step-ahead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ARX vs AR: Did Exogenous Inputs Help?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MSE Train (thousands)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MSE Test (thousands)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41,278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282.9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ARX(4)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40,592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281.7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29260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Result: ARX improved both in-sample and out-of-sample MSE (~0.4% improvement)</a:t>
            </a:r>
          </a:p>
          <a:p>
            <a:pPr>
              <a:defRPr sz="1600"/>
            </a:pPr>
            <a:r>
              <a:t>• Why ARX helps: Interest rates capture credit channel affecting prices</a:t>
            </a:r>
          </a:p>
          <a:p>
            <a:pPr>
              <a:defRPr sz="1600"/>
            </a:pPr>
            <a:r>
              <a:t>• Why limited help: Relationship may already be in recent price lags</a:t>
            </a:r>
          </a:p>
          <a:p>
            <a:pPr>
              <a:defRPr sz="1600"/>
            </a:pPr>
            <a:r>
              <a:t>• Best ARMAX: (p=2, q=1) with test MSE = 300.6K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Main Sources of Error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Description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Measurement error; interest rate resampled weekly→monthly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Trend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Linear trend may miss structural breaks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 assumes constant coefficients; possible regime changes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Exogenous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Interest rate may be endogenous; lag structure uncertain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Single train/test split; short test period (24 months)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4572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/>
            </a:pPr>
            <a:r>
              <a:t>Mitigation: Cross-validation, multiple regions, longer test periods, regime-switching models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How Far Ahead Can We Predict?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Strategy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MSE Test (thousands)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Interpretation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Short-term (rolling 1-step)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Reasonable accuracy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Long-term (fixed multi-step)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88,003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300× worse — errors compound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292608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Comfortable predicting: Few months to ~1 year only</a:t>
            </a:r>
          </a:p>
          <a:p>
            <a:pPr>
              <a:defRPr sz="1600"/>
            </a:pPr>
            <a:r>
              <a:t>• Error accumulation: Each step adds forecast error</a:t>
            </a:r>
          </a:p>
          <a:p>
            <a:pPr>
              <a:defRPr sz="1600"/>
            </a:pPr>
            <a:r>
              <a:t>• Exogenous shocks: Policy changes, crises unpredictable</a:t>
            </a:r>
          </a:p>
          <a:p>
            <a:pPr>
              <a:defRPr sz="1600"/>
            </a:pPr>
            <a:r>
              <a:t>• Parameter uncertainty: Extrapolation amplifies estimation error</a:t>
            </a:r>
          </a:p>
          <a:p>
            <a:pPr>
              <a:defRPr sz="1600"/>
            </a:pPr>
            <a:r>
              <a:t>• Recommendation: Re-fit regularly; use short-term forecasts; be cautious beyond 6-12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Summary of Key Takeaways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7680"/>
                <a:gridCol w="4297680"/>
              </a:tblGrid>
              <a:tr h="365760"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/>
                      </a:pPr>
                      <a:r>
                        <a:t>Our Answer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Assumptions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Tested stationarity (ADF), validated credit-price link (r=−0.40)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Trend removal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OLS linear detrend; differencing if strong I(1) evidence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ADF → ACF/PACF → AR/ARX → AIC/BIC + out-of-sample MSE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MSE for accuracy; AIC/BIC for model selection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ARX vs 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ARX slightly better (~0.4%); include rate when available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Error 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Data, trend, model assumptions, evaluation design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Forecast horizon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Comfortable only few months to ~1 year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/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Key Numbers:</a:t>
            </a:r>
          </a:p>
          <a:p>
            <a:pPr algn="ctr">
              <a:defRPr sz="2000"/>
            </a:pPr>
            <a:r>
              <a:t>• Correlation (Δprice, rate): −0.40 (p &lt; 0.001)</a:t>
            </a:r>
          </a:p>
          <a:p>
            <a:pPr algn="ctr">
              <a:defRPr sz="2000"/>
            </a:pPr>
            <a:r>
              <a:t>• Short-term MSE: 294K vs Long-term: 88,003K (300× worse)</a:t>
            </a:r>
          </a:p>
          <a:p>
            <a:pPr algn="ctr">
              <a:defRPr sz="2000"/>
            </a:pPr>
            <a:r>
              <a:t>• ARX(4) test MSE: 281.7K vs AR(4): 282.9K</a:t>
            </a:r>
          </a:p>
          <a:p>
            <a:pPr algn="ctr">
              <a:defRPr sz="2000"/>
            </a:pPr>
            <a:r>
              <a:t>• ADF p-value: Raw 0.98 → Detrended 0.03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